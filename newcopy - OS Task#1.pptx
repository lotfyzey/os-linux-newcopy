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develop a system program called newcopy that copies a source file to a destination, written in C. It behaves like a basic cp: file to file, or file into a directory, and any failure prints a clear message and exits with code 1. It uses system calls directly: stat, open, read, write and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decisions in main. First, if the destination is an existing directory, the program builds the target path from the directory and the source file name. Second, before opening anything it compares st_dev and st_ino of both paths. Without this check, opening the destination with O_TRUNC would destroy the source when both are the same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 the program. read() fills a 64 KB buffer, and the inner loop writes it out completely, retrying when a signal interrupts the call. Errors set the exit status and jump to the cleanup label, which frees the buffer and closes both files. The slide is abridged: the full error messages are in newcopy.c.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 once with gcc, with no warnings under -Wall -Wextra. Moving the binary into /usr/local/bin puts it on the PATH, so it can be run by name from any folder. After that, newcopy runs with any arguments without compiling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session. newcopy test.txt result creates a new file, newcopy test.txt ../ copies into the parent directory, and newcopy test.txt ./ is refused because both paths are the same file. Existing files are overwritten with the source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D132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1" cy="498898"/>
          </a:xfrm>
          <a:prstGeom prst="rect">
            <a:avLst/>
          </a:prstGeom>
          <a:noFill/>
          <a:ln/>
        </p:spPr>
        <p:txBody>
          <a:bodyPr wrap="square" lIns="0" tIns="0" rIns="0" bIns="0" rtlCol="0" anchor="t"/>
          <a:lstStyle>
            <a:lvl1pPr algn="l" indent="0" marL="0">
              <a:lnSpc>
                <a:spcPct val="115000"/>
              </a:lnSpc>
              <a:buNone/>
              <a:defRPr lang="en-US" sz="3600" dirty="0">
                <a:solidFill>
                  <a:srgbClr val="ECEFF8"/>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16498"/>
            <a:ext cx="10566400" cy="4428702"/>
          </a:xfrm>
          <a:prstGeom prst="rect">
            <a:avLst/>
          </a:prstGeom>
          <a:noFill/>
          <a:ln/>
        </p:spPr>
        <p:txBody>
          <a:bodyPr wrap="square" lIns="0" tIns="0" rIns="0" bIns="0" rtlCol="0" anchor="t"/>
          <a:lstStyle>
            <a:lvl1pPr algn="l" indent="0" marL="0">
              <a:lnSpc>
                <a:spcPct val="140000"/>
              </a:lnSpc>
              <a:buNone/>
              <a:defRPr lang="en-US" sz="1600" dirty="0">
                <a:solidFill>
                  <a:srgbClr val="ECEFF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D132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1" cy="498898"/>
          </a:xfrm>
          <a:prstGeom prst="rect">
            <a:avLst/>
          </a:prstGeom>
          <a:noFill/>
          <a:ln/>
        </p:spPr>
        <p:txBody>
          <a:bodyPr wrap="square" lIns="0" tIns="0" rIns="0" bIns="0" rtlCol="0" anchor="t"/>
          <a:lstStyle>
            <a:lvl1pPr algn="l" indent="0" marL="0">
              <a:lnSpc>
                <a:spcPct val="115000"/>
              </a:lnSpc>
              <a:buNone/>
              <a:defRPr lang="en-US" sz="3600" dirty="0">
                <a:solidFill>
                  <a:srgbClr val="ECEFF8"/>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16498"/>
            <a:ext cx="10566400" cy="4428702"/>
          </a:xfrm>
          <a:prstGeom prst="rect">
            <a:avLst/>
          </a:prstGeom>
          <a:noFill/>
          <a:ln/>
        </p:spPr>
        <p:txBody>
          <a:bodyPr wrap="square" lIns="0" tIns="0" rIns="0" bIns="0" rtlCol="0" anchor="t"/>
          <a:lstStyle>
            <a:lvl1pPr algn="l" indent="0" marL="0">
              <a:lnSpc>
                <a:spcPct val="140000"/>
              </a:lnSpc>
              <a:buNone/>
              <a:defRPr lang="en-US" sz="1600" dirty="0">
                <a:solidFill>
                  <a:srgbClr val="ECEFF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p:bgPr>
    </p:bg>
    <p:spTree>
      <p:nvGrpSpPr>
        <p:cNvPr id="1" name=""/>
        <p:cNvGrpSpPr/>
        <p:nvPr/>
      </p:nvGrpSpPr>
      <p:grpSpPr>
        <a:xfrm>
          <a:off x="0" y="0"/>
          <a:ext cx="0" cy="0"/>
          <a:chOff x="0" y="0"/>
          <a:chExt cx="0" cy="0"/>
        </a:xfrm>
      </p:grpSpPr>
      <p:sp>
        <p:nvSpPr>
          <p:cNvPr id="2" name="Text 0"/>
          <p:cNvSpPr/>
          <p:nvPr/>
        </p:nvSpPr>
        <p:spPr>
          <a:xfrm>
            <a:off x="812800" y="812800"/>
            <a:ext cx="10883393"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6FD3E8"/>
                </a:solidFill>
                <a:latin typeface="JetBrains Mono" pitchFamily="49" charset="0"/>
                <a:ea typeface="JetBrains Mono" pitchFamily="49" charset="-122"/>
                <a:cs typeface="JetBrains Mono" pitchFamily="49" charset="-120"/>
              </a:rPr>
              <a:t>OS COURSE 2027 · TASK #1</a:t>
            </a:r>
            <a:endParaRPr lang="en-US" sz="1400" dirty="0"/>
          </a:p>
        </p:txBody>
      </p:sp>
      <p:sp>
        <p:nvSpPr>
          <p:cNvPr id="3" name="Text 1"/>
          <p:cNvSpPr/>
          <p:nvPr>
            <p:ph type="title"/>
          </p:nvPr>
        </p:nvSpPr>
        <p:spPr>
          <a:xfrm>
            <a:off x="812800" y="1502833"/>
            <a:ext cx="10883393" cy="1422400"/>
          </a:xfrm>
          <a:prstGeom prst="rect">
            <a:avLst/>
          </a:prstGeom>
          <a:noFill/>
          <a:ln/>
        </p:spPr>
        <p:txBody>
          <a:bodyPr wrap="square" lIns="0" tIns="0" rIns="0" bIns="0" rtlCol="0" anchor="t">
            <a:normAutofit/>
          </a:bodyPr>
          <a:lstStyle/>
          <a:p>
            <a:pPr algn="l" indent="0" marL="0">
              <a:lnSpc>
                <a:spcPts val="11000"/>
              </a:lnSpc>
              <a:buNone/>
            </a:pPr>
            <a:r>
              <a:rPr lang="en-US" sz="10000" b="1" i="0" dirty="0">
                <a:solidFill>
                  <a:srgbClr val="FF8A5B"/>
                </a:solidFill>
                <a:latin typeface="JetBrains Mono" pitchFamily="49" charset="0"/>
                <a:ea typeface="JetBrains Mono" pitchFamily="49" charset="-122"/>
                <a:cs typeface="JetBrains Mono" pitchFamily="49" charset="-120"/>
              </a:rPr>
              <a:t>newcopy</a:t>
            </a:r>
            <a:endParaRPr lang="en-US" sz="10000" dirty="0"/>
          </a:p>
        </p:txBody>
      </p:sp>
      <p:sp>
        <p:nvSpPr>
          <p:cNvPr id="4" name="Text 2"/>
          <p:cNvSpPr/>
          <p:nvPr/>
        </p:nvSpPr>
        <p:spPr>
          <a:xfrm>
            <a:off x="812800" y="3103033"/>
            <a:ext cx="10883393" cy="421640"/>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ECEFF8"/>
                </a:solidFill>
                <a:latin typeface="IBM Plex Sans" pitchFamily="34" charset="0"/>
                <a:ea typeface="IBM Plex Sans" pitchFamily="34" charset="-122"/>
                <a:cs typeface="IBM Plex Sans" pitchFamily="34" charset="-120"/>
              </a:rPr>
              <a:t>A file-copy system program written in C</a:t>
            </a:r>
            <a:endParaRPr lang="en-US" sz="2400" dirty="0"/>
          </a:p>
        </p:txBody>
      </p:sp>
      <p:sp>
        <p:nvSpPr>
          <p:cNvPr id="5" name="Text 3"/>
          <p:cNvSpPr/>
          <p:nvPr/>
        </p:nvSpPr>
        <p:spPr>
          <a:xfrm>
            <a:off x="815975" y="3705649"/>
            <a:ext cx="6001597" cy="718397"/>
          </a:xfrm>
          <a:prstGeom prst="roundRect">
            <a:avLst>
              <a:gd name="adj" fmla="val 13701"/>
            </a:avLst>
          </a:prstGeom>
          <a:solidFill>
            <a:srgbClr val="172036"/>
          </a:solidFill>
          <a:ln w="6350">
            <a:solidFill>
              <a:srgbClr val="27324D"/>
            </a:solidFill>
            <a:prstDash val="solid"/>
          </a:ln>
        </p:spPr>
        <p:txBody>
          <a:bodyPr wrap="none" lIns="0" tIns="0" rIns="0" bIns="0" rtlCol="0" anchor="ctr">
            <a:normAutofit/>
          </a:bodyPr>
          <a:lstStyle/>
          <a:p>
            <a:pPr algn="ctr" indent="0" marL="0">
              <a:lnSpc>
                <a:spcPts val="2800"/>
              </a:lnSpc>
              <a:buNone/>
            </a:pPr>
            <a:r>
              <a:rPr lang="en-US" sz="2000" dirty="0">
                <a:solidFill>
                  <a:srgbClr val="ECEFF8"/>
                </a:solidFill>
                <a:latin typeface="JetBrains Mono" pitchFamily="49" charset="0"/>
                <a:ea typeface="JetBrains Mono" pitchFamily="49" charset="-122"/>
                <a:cs typeface="JetBrains Mono" pitchFamily="49" charset="-120"/>
              </a:rPr>
              <a:t>$ newcopy &lt;SourceFile&gt; &lt;Destination&gt;</a:t>
            </a:r>
            <a:endParaRPr lang="en-US" sz="2000" dirty="0"/>
          </a:p>
        </p:txBody>
      </p:sp>
      <p:sp>
        <p:nvSpPr>
          <p:cNvPr id="6" name="Text 4"/>
          <p:cNvSpPr/>
          <p:nvPr/>
        </p:nvSpPr>
        <p:spPr>
          <a:xfrm>
            <a:off x="815975" y="4633595"/>
            <a:ext cx="1101619" cy="383117"/>
          </a:xfrm>
          <a:prstGeom prst="roundRect">
            <a:avLst>
              <a:gd name="adj" fmla="val 50000"/>
            </a:avLst>
          </a:prstGeom>
          <a:solidFill>
            <a:srgbClr val="172036"/>
          </a:solidFill>
          <a:ln w="6350">
            <a:solidFill>
              <a:srgbClr val="27324D"/>
            </a:solidFill>
            <a:prstDash val="solid"/>
          </a:ln>
        </p:spPr>
        <p:txBody>
          <a:bodyPr wrap="none" lIns="0" tIns="0" rIns="0" bIns="0" rtlCol="0" anchor="ctr">
            <a:normAutofit/>
          </a:bodyPr>
          <a:lstStyle/>
          <a:p>
            <a:pPr algn="ctr" indent="0" marL="0">
              <a:lnSpc>
                <a:spcPts val="1960"/>
              </a:lnSpc>
              <a:buNone/>
            </a:pPr>
            <a:r>
              <a:rPr lang="en-US" sz="1400" dirty="0">
                <a:solidFill>
                  <a:srgbClr val="ECEFF8"/>
                </a:solidFill>
                <a:latin typeface="IBM Plex Sans" pitchFamily="34" charset="0"/>
                <a:ea typeface="IBM Plex Sans" pitchFamily="34" charset="-122"/>
                <a:cs typeface="IBM Plex Sans" pitchFamily="34" charset="-120"/>
              </a:rPr>
              <a:t>file to file</a:t>
            </a:r>
            <a:endParaRPr lang="en-US" sz="1400" dirty="0"/>
          </a:p>
        </p:txBody>
      </p:sp>
      <p:sp>
        <p:nvSpPr>
          <p:cNvPr id="7" name="Text 5"/>
          <p:cNvSpPr/>
          <p:nvPr/>
        </p:nvSpPr>
        <p:spPr>
          <a:xfrm>
            <a:off x="2025544" y="4633595"/>
            <a:ext cx="1853142" cy="383117"/>
          </a:xfrm>
          <a:prstGeom prst="roundRect">
            <a:avLst>
              <a:gd name="adj" fmla="val 50000"/>
            </a:avLst>
          </a:prstGeom>
          <a:solidFill>
            <a:srgbClr val="172036"/>
          </a:solidFill>
          <a:ln w="6350">
            <a:solidFill>
              <a:srgbClr val="27324D"/>
            </a:solidFill>
            <a:prstDash val="solid"/>
          </a:ln>
        </p:spPr>
        <p:txBody>
          <a:bodyPr wrap="none" lIns="0" tIns="0" rIns="0" bIns="0" rtlCol="0" anchor="ctr">
            <a:normAutofit/>
          </a:bodyPr>
          <a:lstStyle/>
          <a:p>
            <a:pPr algn="ctr" indent="0" marL="0">
              <a:lnSpc>
                <a:spcPts val="1960"/>
              </a:lnSpc>
              <a:buNone/>
            </a:pPr>
            <a:r>
              <a:rPr lang="en-US" sz="1400" dirty="0">
                <a:solidFill>
                  <a:srgbClr val="ECEFF8"/>
                </a:solidFill>
                <a:latin typeface="IBM Plex Sans" pitchFamily="34" charset="0"/>
                <a:ea typeface="IBM Plex Sans" pitchFamily="34" charset="-122"/>
                <a:cs typeface="IBM Plex Sans" pitchFamily="34" charset="-120"/>
              </a:rPr>
              <a:t>file into a directory</a:t>
            </a:r>
            <a:endParaRPr lang="en-US" sz="1400" dirty="0"/>
          </a:p>
        </p:txBody>
      </p:sp>
      <p:sp>
        <p:nvSpPr>
          <p:cNvPr id="8" name="Text 6"/>
          <p:cNvSpPr/>
          <p:nvPr/>
        </p:nvSpPr>
        <p:spPr>
          <a:xfrm>
            <a:off x="3986636" y="4633595"/>
            <a:ext cx="2141538" cy="383117"/>
          </a:xfrm>
          <a:prstGeom prst="roundRect">
            <a:avLst>
              <a:gd name="adj" fmla="val 50000"/>
            </a:avLst>
          </a:prstGeom>
          <a:solidFill>
            <a:srgbClr val="172036"/>
          </a:solidFill>
          <a:ln w="6350">
            <a:solidFill>
              <a:srgbClr val="27324D"/>
            </a:solidFill>
            <a:prstDash val="solid"/>
          </a:ln>
        </p:spPr>
        <p:txBody>
          <a:bodyPr wrap="none" lIns="0" tIns="0" rIns="0" bIns="0" rtlCol="0" anchor="ctr">
            <a:normAutofit/>
          </a:bodyPr>
          <a:lstStyle/>
          <a:p>
            <a:pPr algn="ctr" indent="0" marL="0">
              <a:lnSpc>
                <a:spcPts val="1960"/>
              </a:lnSpc>
              <a:buNone/>
            </a:pPr>
            <a:r>
              <a:rPr lang="en-US" sz="1400" dirty="0">
                <a:solidFill>
                  <a:srgbClr val="ECEFF8"/>
                </a:solidFill>
                <a:latin typeface="IBM Plex Sans" pitchFamily="34" charset="0"/>
                <a:ea typeface="IBM Plex Sans" pitchFamily="34" charset="-122"/>
                <a:cs typeface="IBM Plex Sans" pitchFamily="34" charset="-120"/>
              </a:rPr>
              <a:t>errors exit with code 1</a:t>
            </a:r>
            <a:endParaRPr lang="en-US" sz="1400" dirty="0"/>
          </a:p>
        </p:txBody>
      </p:sp>
      <p:sp>
        <p:nvSpPr>
          <p:cNvPr id="9" name="Text 7"/>
          <p:cNvSpPr/>
          <p:nvPr/>
        </p:nvSpPr>
        <p:spPr>
          <a:xfrm>
            <a:off x="812800" y="5461000"/>
            <a:ext cx="108833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CEFF8"/>
                </a:solidFill>
                <a:latin typeface="IBM Plex Sans" pitchFamily="34" charset="0"/>
                <a:ea typeface="IBM Plex Sans" pitchFamily="34" charset="-122"/>
                <a:cs typeface="IBM Plex Sans" pitchFamily="34" charset="-120"/>
              </a:rPr>
              <a:t>Zeyad Lotfy Abd Elghany</a:t>
            </a:r>
            <a:endParaRPr lang="en-US" sz="1600" dirty="0"/>
          </a:p>
        </p:txBody>
      </p:sp>
      <p:sp>
        <p:nvSpPr>
          <p:cNvPr id="10" name="Text 8"/>
          <p:cNvSpPr/>
          <p:nvPr/>
        </p:nvSpPr>
        <p:spPr>
          <a:xfrm>
            <a:off x="812800" y="5796280"/>
            <a:ext cx="108833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6C4"/>
                </a:solidFill>
                <a:latin typeface="IBM Plex Sans" pitchFamily="34" charset="0"/>
                <a:ea typeface="IBM Plex Sans" pitchFamily="34" charset="-122"/>
                <a:cs typeface="IBM Plex Sans" pitchFamily="34" charset="-120"/>
              </a:rPr>
              <a:t>Faculty of Electronic Engineering, Minoufia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321"/>
        </a:solidFill>
      </p:bgPr>
    </p:bg>
    <p:spTree>
      <p:nvGrpSpPr>
        <p:cNvPr id="1" name=""/>
        <p:cNvGrpSpPr/>
        <p:nvPr/>
      </p:nvGrpSpPr>
      <p:grpSpPr>
        <a:xfrm>
          <a:off x="0" y="0"/>
          <a:ext cx="0" cy="0"/>
          <a:chOff x="0" y="0"/>
          <a:chExt cx="0" cy="0"/>
        </a:xfrm>
      </p:grpSpPr>
      <p:sp>
        <p:nvSpPr>
          <p:cNvPr id="2" name="Text 0"/>
          <p:cNvSpPr/>
          <p:nvPr>
            <p:ph type="title"/>
          </p:nvPr>
        </p:nvSpPr>
        <p:spPr>
          <a:xfrm>
            <a:off x="812800" y="812801"/>
            <a:ext cx="10883393" cy="483658"/>
          </a:xfrm>
          <a:prstGeom prst="rect">
            <a:avLst/>
          </a:prstGeom>
          <a:noFill/>
          <a:ln/>
        </p:spPr>
        <p:txBody>
          <a:bodyPr wrap="square" lIns="0" tIns="0" rIns="0" bIns="0" rtlCol="0" anchor="t">
            <a:normAutofit/>
          </a:bodyPr>
          <a:lstStyle/>
          <a:p>
            <a:pPr algn="l" indent="0" marL="0">
              <a:lnSpc>
                <a:spcPts val="3614"/>
              </a:lnSpc>
              <a:buNone/>
            </a:pPr>
            <a:r>
              <a:rPr lang="en-US" sz="3285" b="1" i="0" dirty="0">
                <a:solidFill>
                  <a:srgbClr val="ECEFF8"/>
                </a:solidFill>
                <a:latin typeface="IBM Plex Sans" pitchFamily="34" charset="0"/>
                <a:ea typeface="IBM Plex Sans" pitchFamily="34" charset="-122"/>
                <a:cs typeface="IBM Plex Sans" pitchFamily="34" charset="-120"/>
              </a:rPr>
              <a:t>Code: destination and checks</a:t>
            </a:r>
            <a:endParaRPr lang="en-US" sz="3285" dirty="0"/>
          </a:p>
        </p:txBody>
      </p:sp>
      <p:sp>
        <p:nvSpPr>
          <p:cNvPr id="3" name="Text 1"/>
          <p:cNvSpPr/>
          <p:nvPr/>
        </p:nvSpPr>
        <p:spPr>
          <a:xfrm>
            <a:off x="815975" y="1528234"/>
            <a:ext cx="6724650" cy="4310592"/>
          </a:xfrm>
          <a:prstGeom prst="roundRect">
            <a:avLst>
              <a:gd name="adj" fmla="val 2283"/>
            </a:avLst>
          </a:prstGeom>
          <a:solidFill>
            <a:srgbClr val="172036"/>
          </a:solidFill>
          <a:ln w="6350">
            <a:solidFill>
              <a:srgbClr val="27324D"/>
            </a:solidFill>
            <a:prstDash val="solid"/>
          </a:ln>
        </p:spPr>
        <p:txBody>
          <a:bodyPr wrap="none" lIns="203371" tIns="203371" rIns="15563" bIns="177971" rtlCol="0" anchor="t">
            <a:normAutofit/>
          </a:bodyPr>
          <a:lstStyle/>
          <a:p>
            <a:pPr algn="l" indent="0" marL="0">
              <a:lnSpc>
                <a:spcPts val="1512"/>
              </a:lnSpc>
              <a:buNone/>
            </a:pPr>
            <a:r>
              <a:rPr lang="en-US" sz="1080" dirty="0">
                <a:solidFill>
                  <a:srgbClr val="8E9BBE"/>
                </a:solidFill>
                <a:latin typeface="JetBrains Mono" pitchFamily="49" charset="0"/>
                <a:ea typeface="JetBrains Mono" pitchFamily="49" charset="-122"/>
                <a:cs typeface="JetBrains Mono" pitchFamily="49" charset="-120"/>
              </a:rPr>
              <a:t>/* if destination is a directory, copy inside it (like cp) */</a:t>
            </a:r>
            <a:endParaRPr lang="en-US" sz="1080" dirty="0"/>
          </a:p>
          <a:p>
            <a:pPr algn="l" indent="0" marL="0">
              <a:lnSpc>
                <a:spcPts val="1512"/>
              </a:lnSpc>
              <a:buNone/>
            </a:pPr>
            <a:endParaRPr lang="en-US" sz="1080" dirty="0"/>
          </a:p>
          <a:p>
            <a:pPr algn="l" indent="0" marL="0">
              <a:lnSpc>
                <a:spcPts val="1512"/>
              </a:lnSpc>
              <a:buNone/>
            </a:pPr>
            <a:r>
              <a:rPr lang="en-US" sz="1080" dirty="0">
                <a:solidFill>
                  <a:srgbClr val="FF8A5B"/>
                </a:solidFill>
                <a:latin typeface="JetBrains Mono" pitchFamily="49" charset="0"/>
                <a:ea typeface="JetBrains Mono" pitchFamily="49" charset="-122"/>
                <a:cs typeface="JetBrains Mono" pitchFamily="49" charset="-120"/>
              </a:rPr>
              <a:t>if</a:t>
            </a:r>
            <a:r>
              <a:rPr lang="en-US" sz="1080" dirty="0">
                <a:solidFill>
                  <a:srgbClr val="ECEFF8"/>
                </a:solidFill>
                <a:latin typeface="JetBrains Mono" pitchFamily="49" charset="0"/>
                <a:ea typeface="JetBrains Mono" pitchFamily="49" charset="-122"/>
                <a:cs typeface="JetBrains Mono" pitchFamily="49" charset="-120"/>
              </a:rPr>
              <a:t> (stat(argv[2], &amp;dst_st) == 0 &amp;&amp; S_ISDIR(dst_st.st_mode)) {</a:t>
            </a:r>
            <a:endParaRPr lang="en-US" sz="1080" dirty="0"/>
          </a:p>
          <a:p>
            <a:pPr algn="l" indent="0" marL="0">
              <a:lnSpc>
                <a:spcPts val="1512"/>
              </a:lnSpc>
              <a:buNone/>
            </a:pPr>
            <a:r>
              <a:rPr lang="en-US" sz="1080" dirty="0">
                <a:solidFill>
                  <a:srgbClr val="ECEFF8"/>
                </a:solidFill>
                <a:latin typeface="JetBrains Mono" pitchFamily="49" charset="0"/>
                <a:ea typeface="JetBrains Mono" pitchFamily="49" charset="-122"/>
                <a:cs typeface="JetBrains Mono" pitchFamily="49" charset="-120"/>
              </a:rPr>
              <a:t>    </a:t>
            </a:r>
            <a:r>
              <a:rPr lang="en-US" sz="1080" dirty="0">
                <a:solidFill>
                  <a:srgbClr val="FF8A5B"/>
                </a:solidFill>
                <a:latin typeface="JetBrains Mono" pitchFamily="49" charset="0"/>
                <a:ea typeface="JetBrains Mono" pitchFamily="49" charset="-122"/>
                <a:cs typeface="JetBrains Mono" pitchFamily="49" charset="-120"/>
              </a:rPr>
              <a:t>const char</a:t>
            </a:r>
            <a:r>
              <a:rPr lang="en-US" sz="1080" dirty="0">
                <a:solidFill>
                  <a:srgbClr val="ECEFF8"/>
                </a:solidFill>
                <a:latin typeface="JetBrains Mono" pitchFamily="49" charset="0"/>
                <a:ea typeface="JetBrains Mono" pitchFamily="49" charset="-122"/>
                <a:cs typeface="JetBrains Mono" pitchFamily="49" charset="-120"/>
              </a:rPr>
              <a:t> *base = strrchr(src, </a:t>
            </a:r>
            <a:r>
              <a:rPr lang="en-US" sz="1080" dirty="0">
                <a:solidFill>
                  <a:srgbClr val="6FD3E8"/>
                </a:solidFill>
                <a:latin typeface="JetBrains Mono" pitchFamily="49" charset="0"/>
                <a:ea typeface="JetBrains Mono" pitchFamily="49" charset="-122"/>
                <a:cs typeface="JetBrains Mono" pitchFamily="49" charset="-120"/>
              </a:rPr>
              <a:t>'/'</a:t>
            </a:r>
            <a:r>
              <a:rPr lang="en-US" sz="1080" dirty="0">
                <a:solidFill>
                  <a:srgbClr val="ECEFF8"/>
                </a:solidFill>
                <a:latin typeface="JetBrains Mono" pitchFamily="49" charset="0"/>
                <a:ea typeface="JetBrains Mono" pitchFamily="49" charset="-122"/>
                <a:cs typeface="JetBrains Mono" pitchFamily="49" charset="-120"/>
              </a:rPr>
              <a:t>);</a:t>
            </a:r>
            <a:endParaRPr lang="en-US" sz="1080" dirty="0"/>
          </a:p>
          <a:p>
            <a:pPr algn="l" indent="0" marL="0">
              <a:lnSpc>
                <a:spcPts val="1512"/>
              </a:lnSpc>
              <a:buNone/>
            </a:pPr>
            <a:r>
              <a:rPr lang="en-US" sz="1080" dirty="0">
                <a:solidFill>
                  <a:srgbClr val="ECEFF8"/>
                </a:solidFill>
                <a:latin typeface="JetBrains Mono" pitchFamily="49" charset="0"/>
                <a:ea typeface="JetBrains Mono" pitchFamily="49" charset="-122"/>
                <a:cs typeface="JetBrains Mono" pitchFamily="49" charset="-120"/>
              </a:rPr>
              <a:t>    base = base ? base + 1 : src;</a:t>
            </a:r>
            <a:endParaRPr lang="en-US" sz="1080" dirty="0"/>
          </a:p>
          <a:p>
            <a:pPr algn="l" indent="0" marL="0">
              <a:lnSpc>
                <a:spcPts val="1512"/>
              </a:lnSpc>
              <a:buNone/>
            </a:pPr>
            <a:r>
              <a:rPr lang="en-US" sz="1080" dirty="0">
                <a:solidFill>
                  <a:srgbClr val="ECEFF8"/>
                </a:solidFill>
                <a:latin typeface="JetBrains Mono" pitchFamily="49" charset="0"/>
                <a:ea typeface="JetBrains Mono" pitchFamily="49" charset="-122"/>
                <a:cs typeface="JetBrains Mono" pitchFamily="49" charset="-120"/>
              </a:rPr>
              <a:t>    snprintf(dst, sizeof(dst), </a:t>
            </a:r>
            <a:r>
              <a:rPr lang="en-US" sz="1080" dirty="0">
                <a:solidFill>
                  <a:srgbClr val="6FD3E8"/>
                </a:solidFill>
                <a:latin typeface="JetBrains Mono" pitchFamily="49" charset="0"/>
                <a:ea typeface="JetBrains Mono" pitchFamily="49" charset="-122"/>
                <a:cs typeface="JetBrains Mono" pitchFamily="49" charset="-120"/>
              </a:rPr>
              <a:t>"%s/%s"</a:t>
            </a:r>
            <a:r>
              <a:rPr lang="en-US" sz="1080" dirty="0">
                <a:solidFill>
                  <a:srgbClr val="ECEFF8"/>
                </a:solidFill>
                <a:latin typeface="JetBrains Mono" pitchFamily="49" charset="0"/>
                <a:ea typeface="JetBrains Mono" pitchFamily="49" charset="-122"/>
                <a:cs typeface="JetBrains Mono" pitchFamily="49" charset="-120"/>
              </a:rPr>
              <a:t>, argv[2], base);</a:t>
            </a:r>
            <a:endParaRPr lang="en-US" sz="1080" dirty="0"/>
          </a:p>
          <a:p>
            <a:pPr algn="l" indent="0" marL="0">
              <a:lnSpc>
                <a:spcPts val="1512"/>
              </a:lnSpc>
              <a:buNone/>
            </a:pPr>
            <a:r>
              <a:rPr lang="en-US" sz="1080" dirty="0">
                <a:solidFill>
                  <a:srgbClr val="ECEFF8"/>
                </a:solidFill>
                <a:latin typeface="JetBrains Mono" pitchFamily="49" charset="0"/>
                <a:ea typeface="JetBrains Mono" pitchFamily="49" charset="-122"/>
                <a:cs typeface="JetBrains Mono" pitchFamily="49" charset="-120"/>
              </a:rPr>
              <a:t>} </a:t>
            </a:r>
            <a:r>
              <a:rPr lang="en-US" sz="1080" dirty="0">
                <a:solidFill>
                  <a:srgbClr val="FF8A5B"/>
                </a:solidFill>
                <a:latin typeface="JetBrains Mono" pitchFamily="49" charset="0"/>
                <a:ea typeface="JetBrains Mono" pitchFamily="49" charset="-122"/>
                <a:cs typeface="JetBrains Mono" pitchFamily="49" charset="-120"/>
              </a:rPr>
              <a:t>else</a:t>
            </a:r>
            <a:r>
              <a:rPr lang="en-US" sz="1080" dirty="0">
                <a:solidFill>
                  <a:srgbClr val="ECEFF8"/>
                </a:solidFill>
                <a:latin typeface="JetBrains Mono" pitchFamily="49" charset="0"/>
                <a:ea typeface="JetBrains Mono" pitchFamily="49" charset="-122"/>
                <a:cs typeface="JetBrains Mono" pitchFamily="49" charset="-120"/>
              </a:rPr>
              <a:t> {</a:t>
            </a:r>
            <a:endParaRPr lang="en-US" sz="1080" dirty="0"/>
          </a:p>
          <a:p>
            <a:pPr algn="l" indent="0" marL="0">
              <a:lnSpc>
                <a:spcPts val="1512"/>
              </a:lnSpc>
              <a:buNone/>
            </a:pPr>
            <a:r>
              <a:rPr lang="en-US" sz="1080" dirty="0">
                <a:solidFill>
                  <a:srgbClr val="ECEFF8"/>
                </a:solidFill>
                <a:latin typeface="JetBrains Mono" pitchFamily="49" charset="0"/>
                <a:ea typeface="JetBrains Mono" pitchFamily="49" charset="-122"/>
                <a:cs typeface="JetBrains Mono" pitchFamily="49" charset="-120"/>
              </a:rPr>
              <a:t>    snprintf(dst, sizeof(dst), </a:t>
            </a:r>
            <a:r>
              <a:rPr lang="en-US" sz="1080" dirty="0">
                <a:solidFill>
                  <a:srgbClr val="6FD3E8"/>
                </a:solidFill>
                <a:latin typeface="JetBrains Mono" pitchFamily="49" charset="0"/>
                <a:ea typeface="JetBrains Mono" pitchFamily="49" charset="-122"/>
                <a:cs typeface="JetBrains Mono" pitchFamily="49" charset="-120"/>
              </a:rPr>
              <a:t>"%s"</a:t>
            </a:r>
            <a:r>
              <a:rPr lang="en-US" sz="1080" dirty="0">
                <a:solidFill>
                  <a:srgbClr val="ECEFF8"/>
                </a:solidFill>
                <a:latin typeface="JetBrains Mono" pitchFamily="49" charset="0"/>
                <a:ea typeface="JetBrains Mono" pitchFamily="49" charset="-122"/>
                <a:cs typeface="JetBrains Mono" pitchFamily="49" charset="-120"/>
              </a:rPr>
              <a:t>, argv[2]);</a:t>
            </a:r>
            <a:endParaRPr lang="en-US" sz="1080" dirty="0"/>
          </a:p>
          <a:p>
            <a:pPr algn="l" indent="0" marL="0">
              <a:lnSpc>
                <a:spcPts val="1512"/>
              </a:lnSpc>
              <a:buNone/>
            </a:pPr>
            <a:r>
              <a:rPr lang="en-US" sz="1080" dirty="0">
                <a:solidFill>
                  <a:srgbClr val="ECEFF8"/>
                </a:solidFill>
                <a:latin typeface="JetBrains Mono" pitchFamily="49" charset="0"/>
                <a:ea typeface="JetBrains Mono" pitchFamily="49" charset="-122"/>
                <a:cs typeface="JetBrains Mono" pitchFamily="49" charset="-120"/>
              </a:rPr>
              <a:t>}</a:t>
            </a:r>
            <a:endParaRPr lang="en-US" sz="1080" dirty="0"/>
          </a:p>
          <a:p>
            <a:pPr algn="l" indent="0" marL="0">
              <a:lnSpc>
                <a:spcPts val="1512"/>
              </a:lnSpc>
              <a:buNone/>
            </a:pPr>
            <a:endParaRPr lang="en-US" sz="1080" dirty="0"/>
          </a:p>
          <a:p>
            <a:pPr algn="l" indent="0" marL="0">
              <a:lnSpc>
                <a:spcPts val="1512"/>
              </a:lnSpc>
              <a:buNone/>
            </a:pPr>
            <a:endParaRPr lang="en-US" sz="1080" dirty="0"/>
          </a:p>
          <a:p>
            <a:pPr algn="l" indent="0" marL="0">
              <a:lnSpc>
                <a:spcPts val="1512"/>
              </a:lnSpc>
              <a:buNone/>
            </a:pPr>
            <a:endParaRPr lang="en-US" sz="1080" dirty="0"/>
          </a:p>
          <a:p>
            <a:pPr algn="l" indent="0" marL="0">
              <a:lnSpc>
                <a:spcPts val="1512"/>
              </a:lnSpc>
              <a:buNone/>
            </a:pPr>
            <a:r>
              <a:rPr lang="en-US" sz="1080" dirty="0">
                <a:solidFill>
                  <a:srgbClr val="8E9BBE"/>
                </a:solidFill>
                <a:latin typeface="JetBrains Mono" pitchFamily="49" charset="0"/>
                <a:ea typeface="JetBrains Mono" pitchFamily="49" charset="-122"/>
                <a:cs typeface="JetBrains Mono" pitchFamily="49" charset="-120"/>
              </a:rPr>
              <a:t>/* refuse to copy a file onto itself */</a:t>
            </a:r>
            <a:endParaRPr lang="en-US" sz="1080" dirty="0"/>
          </a:p>
          <a:p>
            <a:pPr algn="l" indent="0" marL="0">
              <a:lnSpc>
                <a:spcPts val="1512"/>
              </a:lnSpc>
              <a:buNone/>
            </a:pPr>
            <a:endParaRPr lang="en-US" sz="1080" dirty="0"/>
          </a:p>
          <a:p>
            <a:pPr algn="l" indent="0" marL="0">
              <a:lnSpc>
                <a:spcPts val="1512"/>
              </a:lnSpc>
              <a:buNone/>
            </a:pPr>
            <a:r>
              <a:rPr lang="en-US" sz="1080" dirty="0">
                <a:solidFill>
                  <a:srgbClr val="FF8A5B"/>
                </a:solidFill>
                <a:latin typeface="JetBrains Mono" pitchFamily="49" charset="0"/>
                <a:ea typeface="JetBrains Mono" pitchFamily="49" charset="-122"/>
                <a:cs typeface="JetBrains Mono" pitchFamily="49" charset="-120"/>
              </a:rPr>
              <a:t>if</a:t>
            </a:r>
            <a:r>
              <a:rPr lang="en-US" sz="1080" dirty="0">
                <a:solidFill>
                  <a:srgbClr val="ECEFF8"/>
                </a:solidFill>
                <a:latin typeface="JetBrains Mono" pitchFamily="49" charset="0"/>
                <a:ea typeface="JetBrains Mono" pitchFamily="49" charset="-122"/>
                <a:cs typeface="JetBrains Mono" pitchFamily="49" charset="-120"/>
              </a:rPr>
              <a:t> (stat(dst, &amp;dst_st) == 0 &amp;&amp;</a:t>
            </a:r>
            <a:endParaRPr lang="en-US" sz="1080" dirty="0"/>
          </a:p>
          <a:p>
            <a:pPr algn="l" indent="0" marL="0">
              <a:lnSpc>
                <a:spcPts val="1512"/>
              </a:lnSpc>
              <a:buNone/>
            </a:pPr>
            <a:r>
              <a:rPr lang="en-US" sz="1080" dirty="0">
                <a:solidFill>
                  <a:srgbClr val="ECEFF8"/>
                </a:solidFill>
                <a:latin typeface="JetBrains Mono" pitchFamily="49" charset="0"/>
                <a:ea typeface="JetBrains Mono" pitchFamily="49" charset="-122"/>
                <a:cs typeface="JetBrains Mono" pitchFamily="49" charset="-120"/>
              </a:rPr>
              <a:t>    src_st.st_dev == dst_st.st_dev &amp;&amp;</a:t>
            </a:r>
            <a:endParaRPr lang="en-US" sz="1080" dirty="0"/>
          </a:p>
          <a:p>
            <a:pPr algn="l" indent="0" marL="0">
              <a:lnSpc>
                <a:spcPts val="1512"/>
              </a:lnSpc>
              <a:buNone/>
            </a:pPr>
            <a:r>
              <a:rPr lang="en-US" sz="1080" dirty="0">
                <a:solidFill>
                  <a:srgbClr val="ECEFF8"/>
                </a:solidFill>
                <a:latin typeface="JetBrains Mono" pitchFamily="49" charset="0"/>
                <a:ea typeface="JetBrains Mono" pitchFamily="49" charset="-122"/>
                <a:cs typeface="JetBrains Mono" pitchFamily="49" charset="-120"/>
              </a:rPr>
              <a:t>    src_st.st_ino == dst_st.st_ino) {</a:t>
            </a:r>
            <a:endParaRPr lang="en-US" sz="1080" dirty="0"/>
          </a:p>
          <a:p>
            <a:pPr algn="l" indent="0" marL="0">
              <a:lnSpc>
                <a:spcPts val="1512"/>
              </a:lnSpc>
              <a:buNone/>
            </a:pPr>
            <a:r>
              <a:rPr lang="en-US" sz="1080" dirty="0">
                <a:solidFill>
                  <a:srgbClr val="ECEFF8"/>
                </a:solidFill>
                <a:latin typeface="JetBrains Mono" pitchFamily="49" charset="0"/>
                <a:ea typeface="JetBrains Mono" pitchFamily="49" charset="-122"/>
                <a:cs typeface="JetBrains Mono" pitchFamily="49" charset="-120"/>
              </a:rPr>
              <a:t>    fprintf(stderr, </a:t>
            </a:r>
            <a:r>
              <a:rPr lang="en-US" sz="1080" dirty="0">
                <a:solidFill>
                  <a:srgbClr val="6FD3E8"/>
                </a:solidFill>
                <a:latin typeface="JetBrains Mono" pitchFamily="49" charset="0"/>
                <a:ea typeface="JetBrains Mono" pitchFamily="49" charset="-122"/>
                <a:cs typeface="JetBrains Mono" pitchFamily="49" charset="-120"/>
              </a:rPr>
              <a:t>"'%s' and '%s' are the same file\n"</a:t>
            </a:r>
            <a:r>
              <a:rPr lang="en-US" sz="1080" dirty="0">
                <a:solidFill>
                  <a:srgbClr val="ECEFF8"/>
                </a:solidFill>
                <a:latin typeface="JetBrains Mono" pitchFamily="49" charset="0"/>
                <a:ea typeface="JetBrains Mono" pitchFamily="49" charset="-122"/>
                <a:cs typeface="JetBrains Mono" pitchFamily="49" charset="-120"/>
              </a:rPr>
              <a:t>, src, dst);</a:t>
            </a:r>
            <a:endParaRPr lang="en-US" sz="1080" dirty="0"/>
          </a:p>
          <a:p>
            <a:pPr algn="l" indent="0" marL="0">
              <a:lnSpc>
                <a:spcPts val="1512"/>
              </a:lnSpc>
              <a:buNone/>
            </a:pPr>
            <a:r>
              <a:rPr lang="en-US" sz="1080" dirty="0">
                <a:solidFill>
                  <a:srgbClr val="ECEFF8"/>
                </a:solidFill>
                <a:latin typeface="JetBrains Mono" pitchFamily="49" charset="0"/>
                <a:ea typeface="JetBrains Mono" pitchFamily="49" charset="-122"/>
                <a:cs typeface="JetBrains Mono" pitchFamily="49" charset="-120"/>
              </a:rPr>
              <a:t>    </a:t>
            </a:r>
            <a:r>
              <a:rPr lang="en-US" sz="1080" dirty="0">
                <a:solidFill>
                  <a:srgbClr val="FF8A5B"/>
                </a:solidFill>
                <a:latin typeface="JetBrains Mono" pitchFamily="49" charset="0"/>
                <a:ea typeface="JetBrains Mono" pitchFamily="49" charset="-122"/>
                <a:cs typeface="JetBrains Mono" pitchFamily="49" charset="-120"/>
              </a:rPr>
              <a:t>return</a:t>
            </a:r>
            <a:r>
              <a:rPr lang="en-US" sz="1080" dirty="0">
                <a:solidFill>
                  <a:srgbClr val="ECEFF8"/>
                </a:solidFill>
                <a:latin typeface="JetBrains Mono" pitchFamily="49" charset="0"/>
                <a:ea typeface="JetBrains Mono" pitchFamily="49" charset="-122"/>
                <a:cs typeface="JetBrains Mono" pitchFamily="49" charset="-120"/>
              </a:rPr>
              <a:t> 1;</a:t>
            </a:r>
            <a:endParaRPr lang="en-US" sz="1080" dirty="0"/>
          </a:p>
          <a:p>
            <a:pPr algn="l" indent="0" marL="0">
              <a:lnSpc>
                <a:spcPts val="1512"/>
              </a:lnSpc>
              <a:buNone/>
            </a:pPr>
            <a:r>
              <a:rPr lang="en-US" sz="1080" dirty="0">
                <a:solidFill>
                  <a:srgbClr val="ECEFF8"/>
                </a:solidFill>
                <a:latin typeface="JetBrains Mono" pitchFamily="49" charset="0"/>
                <a:ea typeface="JetBrains Mono" pitchFamily="49" charset="-122"/>
                <a:cs typeface="JetBrains Mono" pitchFamily="49" charset="-120"/>
              </a:rPr>
              <a:t>}</a:t>
            </a:r>
            <a:endParaRPr lang="en-US" sz="1080" dirty="0"/>
          </a:p>
        </p:txBody>
      </p:sp>
      <p:sp>
        <p:nvSpPr>
          <p:cNvPr id="4" name="Shape 2"/>
          <p:cNvSpPr/>
          <p:nvPr/>
        </p:nvSpPr>
        <p:spPr>
          <a:xfrm>
            <a:off x="7750176" y="1528234"/>
            <a:ext cx="3625850" cy="1261957"/>
          </a:xfrm>
          <a:prstGeom prst="roundRect">
            <a:avLst>
              <a:gd name="adj" fmla="val 7799"/>
            </a:avLst>
          </a:prstGeom>
          <a:solidFill>
            <a:srgbClr val="172036"/>
          </a:solidFill>
          <a:ln w="6350">
            <a:solidFill>
              <a:srgbClr val="27324D"/>
            </a:solidFill>
            <a:prstDash val="solid"/>
          </a:ln>
        </p:spPr>
      </p:sp>
      <p:sp>
        <p:nvSpPr>
          <p:cNvPr id="5" name="Text 3"/>
          <p:cNvSpPr/>
          <p:nvPr/>
        </p:nvSpPr>
        <p:spPr>
          <a:xfrm>
            <a:off x="7956974" y="1735032"/>
            <a:ext cx="330862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8A5B"/>
                </a:solidFill>
                <a:latin typeface="IBM Plex Sans" pitchFamily="34" charset="0"/>
                <a:ea typeface="IBM Plex Sans" pitchFamily="34" charset="-122"/>
                <a:cs typeface="IBM Plex Sans" pitchFamily="34" charset="-120"/>
              </a:rPr>
              <a:t>Directory destination</a:t>
            </a:r>
            <a:endParaRPr lang="en-US" sz="1800" dirty="0"/>
          </a:p>
        </p:txBody>
      </p:sp>
      <p:sp>
        <p:nvSpPr>
          <p:cNvPr id="6" name="Text 4"/>
          <p:cNvSpPr/>
          <p:nvPr/>
        </p:nvSpPr>
        <p:spPr>
          <a:xfrm>
            <a:off x="7956974" y="2085552"/>
            <a:ext cx="330862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DE4"/>
                </a:solidFill>
                <a:latin typeface="IBM Plex Sans" pitchFamily="34" charset="0"/>
                <a:ea typeface="IBM Plex Sans" pitchFamily="34" charset="-122"/>
                <a:cs typeface="IBM Plex Sans" pitchFamily="34" charset="-120"/>
              </a:rPr>
              <a:t>The file is copied inside the directory under its own name, like cp.</a:t>
            </a:r>
            <a:endParaRPr lang="en-US" sz="1400" dirty="0"/>
          </a:p>
        </p:txBody>
      </p:sp>
      <p:sp>
        <p:nvSpPr>
          <p:cNvPr id="7" name="Shape 5"/>
          <p:cNvSpPr/>
          <p:nvPr/>
        </p:nvSpPr>
        <p:spPr>
          <a:xfrm>
            <a:off x="7750176" y="2948940"/>
            <a:ext cx="3625850" cy="1261957"/>
          </a:xfrm>
          <a:prstGeom prst="roundRect">
            <a:avLst>
              <a:gd name="adj" fmla="val 7799"/>
            </a:avLst>
          </a:prstGeom>
          <a:solidFill>
            <a:srgbClr val="172036"/>
          </a:solidFill>
          <a:ln w="6350">
            <a:solidFill>
              <a:srgbClr val="27324D"/>
            </a:solidFill>
            <a:prstDash val="solid"/>
          </a:ln>
        </p:spPr>
      </p:sp>
      <p:sp>
        <p:nvSpPr>
          <p:cNvPr id="8" name="Text 6"/>
          <p:cNvSpPr/>
          <p:nvPr/>
        </p:nvSpPr>
        <p:spPr>
          <a:xfrm>
            <a:off x="7956974" y="3155739"/>
            <a:ext cx="330862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8A5B"/>
                </a:solidFill>
                <a:latin typeface="IBM Plex Sans" pitchFamily="34" charset="0"/>
                <a:ea typeface="IBM Plex Sans" pitchFamily="34" charset="-122"/>
                <a:cs typeface="IBM Plex Sans" pitchFamily="34" charset="-120"/>
              </a:rPr>
              <a:t>Same-file check</a:t>
            </a:r>
            <a:endParaRPr lang="en-US" sz="1800" dirty="0"/>
          </a:p>
        </p:txBody>
      </p:sp>
      <p:sp>
        <p:nvSpPr>
          <p:cNvPr id="9" name="Text 7"/>
          <p:cNvSpPr/>
          <p:nvPr/>
        </p:nvSpPr>
        <p:spPr>
          <a:xfrm>
            <a:off x="7956974" y="3506259"/>
            <a:ext cx="330862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DE4"/>
                </a:solidFill>
                <a:latin typeface="IBM Plex Sans" pitchFamily="34" charset="0"/>
                <a:ea typeface="IBM Plex Sans" pitchFamily="34" charset="-122"/>
                <a:cs typeface="IBM Plex Sans" pitchFamily="34" charset="-120"/>
              </a:rPr>
              <a:t>Device and inode are compared, so a file is never copied onto itself and emptied.</a:t>
            </a:r>
            <a:endParaRPr lang="en-US" sz="1400" dirty="0"/>
          </a:p>
        </p:txBody>
      </p:sp>
      <p:sp>
        <p:nvSpPr>
          <p:cNvPr id="10" name="Text 8"/>
          <p:cNvSpPr/>
          <p:nvPr/>
        </p:nvSpPr>
        <p:spPr>
          <a:xfrm>
            <a:off x="812800" y="6238241"/>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C4"/>
                </a:solidFill>
                <a:latin typeface="IBM Plex Sans" pitchFamily="34" charset="0"/>
                <a:ea typeface="IBM Plex Sans" pitchFamily="34" charset="-122"/>
                <a:cs typeface="IBM Plex Sans" pitchFamily="34" charset="-120"/>
              </a:rPr>
              <a:t>newcopy · OS Course 2027 · Task#1 · excerpt from newcopy.c</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32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524298"/>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CEFF8"/>
                </a:solidFill>
                <a:latin typeface="IBM Plex Sans" pitchFamily="34" charset="0"/>
                <a:ea typeface="IBM Plex Sans" pitchFamily="34" charset="-122"/>
                <a:cs typeface="IBM Plex Sans" pitchFamily="34" charset="-120"/>
              </a:rPr>
              <a:t>Code: the copy loop</a:t>
            </a:r>
            <a:endParaRPr lang="en-US" sz="3600" dirty="0"/>
          </a:p>
        </p:txBody>
      </p:sp>
      <p:sp>
        <p:nvSpPr>
          <p:cNvPr id="3" name="Text 1"/>
          <p:cNvSpPr/>
          <p:nvPr/>
        </p:nvSpPr>
        <p:spPr>
          <a:xfrm>
            <a:off x="815975" y="1568875"/>
            <a:ext cx="6724650" cy="4269952"/>
          </a:xfrm>
          <a:prstGeom prst="roundRect">
            <a:avLst>
              <a:gd name="adj" fmla="val 2305"/>
            </a:avLst>
          </a:prstGeom>
          <a:solidFill>
            <a:srgbClr val="172036"/>
          </a:solidFill>
          <a:ln w="6350">
            <a:solidFill>
              <a:srgbClr val="27324D"/>
            </a:solidFill>
            <a:prstDash val="solid"/>
          </a:ln>
        </p:spPr>
        <p:txBody>
          <a:bodyPr wrap="none" lIns="203371" tIns="203371" rIns="15563" bIns="177970" rtlCol="0" anchor="t">
            <a:normAutofit/>
          </a:bodyPr>
          <a:lstStyle/>
          <a:p>
            <a:pPr algn="l" indent="0" marL="0">
              <a:lnSpc>
                <a:spcPts val="1664"/>
              </a:lnSpc>
              <a:buNone/>
            </a:pPr>
            <a:r>
              <a:rPr lang="en-US" sz="1189" dirty="0">
                <a:solidFill>
                  <a:srgbClr val="FF8A5B"/>
                </a:solidFill>
                <a:latin typeface="JetBrains Mono" pitchFamily="49" charset="0"/>
                <a:ea typeface="JetBrains Mono" pitchFamily="49" charset="-122"/>
                <a:cs typeface="JetBrains Mono" pitchFamily="49" charset="-120"/>
              </a:rPr>
              <a:t>while</a:t>
            </a:r>
            <a:r>
              <a:rPr lang="en-US" sz="1189" dirty="0">
                <a:solidFill>
                  <a:srgbClr val="ECEFF8"/>
                </a:solidFill>
                <a:latin typeface="JetBrains Mono" pitchFamily="49" charset="0"/>
                <a:ea typeface="JetBrains Mono" pitchFamily="49" charset="-122"/>
                <a:cs typeface="JetBrains Mono" pitchFamily="49" charset="-120"/>
              </a:rPr>
              <a:t> ((n = read(in, buf, BUF_SIZE)) &gt; 0) {</a:t>
            </a: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    ssize_t written = 0;</a:t>
            </a: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    </a:t>
            </a:r>
            <a:r>
              <a:rPr lang="en-US" sz="1189" dirty="0">
                <a:solidFill>
                  <a:srgbClr val="FF8A5B"/>
                </a:solidFill>
                <a:latin typeface="JetBrains Mono" pitchFamily="49" charset="0"/>
                <a:ea typeface="JetBrains Mono" pitchFamily="49" charset="-122"/>
                <a:cs typeface="JetBrains Mono" pitchFamily="49" charset="-120"/>
              </a:rPr>
              <a:t>while</a:t>
            </a:r>
            <a:r>
              <a:rPr lang="en-US" sz="1189" dirty="0">
                <a:solidFill>
                  <a:srgbClr val="ECEFF8"/>
                </a:solidFill>
                <a:latin typeface="JetBrains Mono" pitchFamily="49" charset="0"/>
                <a:ea typeface="JetBrains Mono" pitchFamily="49" charset="-122"/>
                <a:cs typeface="JetBrains Mono" pitchFamily="49" charset="-120"/>
              </a:rPr>
              <a:t> (written &lt; n) {</a:t>
            </a: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        ssize_t w = write(out, buf + written, n - written);</a:t>
            </a: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        </a:t>
            </a:r>
            <a:r>
              <a:rPr lang="en-US" sz="1189" dirty="0">
                <a:solidFill>
                  <a:srgbClr val="FF8A5B"/>
                </a:solidFill>
                <a:latin typeface="JetBrains Mono" pitchFamily="49" charset="0"/>
                <a:ea typeface="JetBrains Mono" pitchFamily="49" charset="-122"/>
                <a:cs typeface="JetBrains Mono" pitchFamily="49" charset="-120"/>
              </a:rPr>
              <a:t>if</a:t>
            </a:r>
            <a:r>
              <a:rPr lang="en-US" sz="1189" dirty="0">
                <a:solidFill>
                  <a:srgbClr val="ECEFF8"/>
                </a:solidFill>
                <a:latin typeface="JetBrains Mono" pitchFamily="49" charset="0"/>
                <a:ea typeface="JetBrains Mono" pitchFamily="49" charset="-122"/>
                <a:cs typeface="JetBrains Mono" pitchFamily="49" charset="-120"/>
              </a:rPr>
              <a:t> (w == -1) {</a:t>
            </a: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            </a:t>
            </a:r>
            <a:r>
              <a:rPr lang="en-US" sz="1189" dirty="0">
                <a:solidFill>
                  <a:srgbClr val="FF8A5B"/>
                </a:solidFill>
                <a:latin typeface="JetBrains Mono" pitchFamily="49" charset="0"/>
                <a:ea typeface="JetBrains Mono" pitchFamily="49" charset="-122"/>
                <a:cs typeface="JetBrains Mono" pitchFamily="49" charset="-120"/>
              </a:rPr>
              <a:t>if</a:t>
            </a:r>
            <a:r>
              <a:rPr lang="en-US" sz="1189" dirty="0">
                <a:solidFill>
                  <a:srgbClr val="ECEFF8"/>
                </a:solidFill>
                <a:latin typeface="JetBrains Mono" pitchFamily="49" charset="0"/>
                <a:ea typeface="JetBrains Mono" pitchFamily="49" charset="-122"/>
                <a:cs typeface="JetBrains Mono" pitchFamily="49" charset="-120"/>
              </a:rPr>
              <a:t> (errno == EINTR) </a:t>
            </a:r>
            <a:r>
              <a:rPr lang="en-US" sz="1189" dirty="0">
                <a:solidFill>
                  <a:srgbClr val="FF8A5B"/>
                </a:solidFill>
                <a:latin typeface="JetBrains Mono" pitchFamily="49" charset="0"/>
                <a:ea typeface="JetBrains Mono" pitchFamily="49" charset="-122"/>
                <a:cs typeface="JetBrains Mono" pitchFamily="49" charset="-120"/>
              </a:rPr>
              <a:t>continue</a:t>
            </a:r>
            <a:r>
              <a:rPr lang="en-US" sz="1189" dirty="0">
                <a:solidFill>
                  <a:srgbClr val="ECEFF8"/>
                </a:solidFill>
                <a:latin typeface="JetBrains Mono" pitchFamily="49" charset="0"/>
                <a:ea typeface="JetBrains Mono" pitchFamily="49" charset="-122"/>
                <a:cs typeface="JetBrains Mono" pitchFamily="49" charset="-120"/>
              </a:rPr>
              <a:t>;</a:t>
            </a: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            </a:t>
            </a:r>
            <a:r>
              <a:rPr lang="en-US" sz="1189" dirty="0">
                <a:solidFill>
                  <a:srgbClr val="8E9BBE"/>
                </a:solidFill>
                <a:latin typeface="JetBrains Mono" pitchFamily="49" charset="0"/>
                <a:ea typeface="JetBrains Mono" pitchFamily="49" charset="-122"/>
                <a:cs typeface="JetBrains Mono" pitchFamily="49" charset="-120"/>
              </a:rPr>
              <a:t>/* print the error */</a:t>
            </a: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            status = 1; </a:t>
            </a:r>
            <a:r>
              <a:rPr lang="en-US" sz="1189" dirty="0">
                <a:solidFill>
                  <a:srgbClr val="FF8A5B"/>
                </a:solidFill>
                <a:latin typeface="JetBrains Mono" pitchFamily="49" charset="0"/>
                <a:ea typeface="JetBrains Mono" pitchFamily="49" charset="-122"/>
                <a:cs typeface="JetBrains Mono" pitchFamily="49" charset="-120"/>
              </a:rPr>
              <a:t>goto</a:t>
            </a:r>
            <a:r>
              <a:rPr lang="en-US" sz="1189" dirty="0">
                <a:solidFill>
                  <a:srgbClr val="ECEFF8"/>
                </a:solidFill>
                <a:latin typeface="JetBrains Mono" pitchFamily="49" charset="0"/>
                <a:ea typeface="JetBrains Mono" pitchFamily="49" charset="-122"/>
                <a:cs typeface="JetBrains Mono" pitchFamily="49" charset="-120"/>
              </a:rPr>
              <a:t> done;</a:t>
            </a: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        }</a:t>
            </a: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        written += w;</a:t>
            </a: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    }</a:t>
            </a: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a:t>
            </a:r>
            <a:endParaRPr lang="en-US" sz="1189" dirty="0"/>
          </a:p>
          <a:p>
            <a:pPr algn="l" indent="0" marL="0">
              <a:lnSpc>
                <a:spcPts val="1664"/>
              </a:lnSpc>
              <a:buNone/>
            </a:pPr>
            <a:endParaRPr lang="en-US" sz="1189" dirty="0"/>
          </a:p>
          <a:p>
            <a:pPr algn="l" indent="0" marL="0">
              <a:lnSpc>
                <a:spcPts val="1664"/>
              </a:lnSpc>
              <a:buNone/>
            </a:pP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done:</a:t>
            </a: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    free(buf);</a:t>
            </a: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    close(in);</a:t>
            </a:r>
            <a:endParaRPr lang="en-US" sz="1189" dirty="0"/>
          </a:p>
          <a:p>
            <a:pPr algn="l" indent="0" marL="0">
              <a:lnSpc>
                <a:spcPts val="1664"/>
              </a:lnSpc>
              <a:buNone/>
            </a:pPr>
            <a:r>
              <a:rPr lang="en-US" sz="1189" dirty="0">
                <a:solidFill>
                  <a:srgbClr val="ECEFF8"/>
                </a:solidFill>
                <a:latin typeface="JetBrains Mono" pitchFamily="49" charset="0"/>
                <a:ea typeface="JetBrains Mono" pitchFamily="49" charset="-122"/>
                <a:cs typeface="JetBrains Mono" pitchFamily="49" charset="-120"/>
              </a:rPr>
              <a:t>    </a:t>
            </a:r>
            <a:r>
              <a:rPr lang="en-US" sz="1189" dirty="0">
                <a:solidFill>
                  <a:srgbClr val="FF8A5B"/>
                </a:solidFill>
                <a:latin typeface="JetBrains Mono" pitchFamily="49" charset="0"/>
                <a:ea typeface="JetBrains Mono" pitchFamily="49" charset="-122"/>
                <a:cs typeface="JetBrains Mono" pitchFamily="49" charset="-120"/>
              </a:rPr>
              <a:t>if</a:t>
            </a:r>
            <a:r>
              <a:rPr lang="en-US" sz="1189" dirty="0">
                <a:solidFill>
                  <a:srgbClr val="ECEFF8"/>
                </a:solidFill>
                <a:latin typeface="JetBrains Mono" pitchFamily="49" charset="0"/>
                <a:ea typeface="JetBrains Mono" pitchFamily="49" charset="-122"/>
                <a:cs typeface="JetBrains Mono" pitchFamily="49" charset="-120"/>
              </a:rPr>
              <a:t> (close(out) == -1) status = 1;</a:t>
            </a:r>
            <a:endParaRPr lang="en-US" sz="1189" dirty="0"/>
          </a:p>
        </p:txBody>
      </p:sp>
      <p:sp>
        <p:nvSpPr>
          <p:cNvPr id="4" name="Shape 2"/>
          <p:cNvSpPr/>
          <p:nvPr/>
        </p:nvSpPr>
        <p:spPr>
          <a:xfrm>
            <a:off x="7750176" y="1568875"/>
            <a:ext cx="3625850" cy="1510877"/>
          </a:xfrm>
          <a:prstGeom prst="roundRect">
            <a:avLst>
              <a:gd name="adj" fmla="val 6514"/>
            </a:avLst>
          </a:prstGeom>
          <a:solidFill>
            <a:srgbClr val="172036"/>
          </a:solidFill>
          <a:ln w="6350">
            <a:solidFill>
              <a:srgbClr val="27324D"/>
            </a:solidFill>
            <a:prstDash val="solid"/>
          </a:ln>
        </p:spPr>
      </p:sp>
      <p:sp>
        <p:nvSpPr>
          <p:cNvPr id="5" name="Text 3"/>
          <p:cNvSpPr/>
          <p:nvPr/>
        </p:nvSpPr>
        <p:spPr>
          <a:xfrm>
            <a:off x="7956974" y="1775673"/>
            <a:ext cx="330862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8A5B"/>
                </a:solidFill>
                <a:latin typeface="IBM Plex Sans" pitchFamily="34" charset="0"/>
                <a:ea typeface="IBM Plex Sans" pitchFamily="34" charset="-122"/>
                <a:cs typeface="IBM Plex Sans" pitchFamily="34" charset="-120"/>
              </a:rPr>
              <a:t>Partial writes</a:t>
            </a:r>
            <a:endParaRPr lang="en-US" sz="1800" dirty="0"/>
          </a:p>
        </p:txBody>
      </p:sp>
      <p:sp>
        <p:nvSpPr>
          <p:cNvPr id="6" name="Text 4"/>
          <p:cNvSpPr/>
          <p:nvPr/>
        </p:nvSpPr>
        <p:spPr>
          <a:xfrm>
            <a:off x="7956974" y="2126193"/>
            <a:ext cx="330862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DE4"/>
                </a:solidFill>
                <a:latin typeface="IBM Plex Sans" pitchFamily="34" charset="0"/>
                <a:ea typeface="IBM Plex Sans" pitchFamily="34" charset="-122"/>
                <a:cs typeface="IBM Plex Sans" pitchFamily="34" charset="-120"/>
              </a:rPr>
              <a:t>write() may store fewer bytes than asked, so the inner loop continues until the whole chunk is saved.</a:t>
            </a:r>
            <a:endParaRPr lang="en-US" sz="1400" dirty="0"/>
          </a:p>
        </p:txBody>
      </p:sp>
      <p:sp>
        <p:nvSpPr>
          <p:cNvPr id="7" name="Shape 5"/>
          <p:cNvSpPr/>
          <p:nvPr/>
        </p:nvSpPr>
        <p:spPr>
          <a:xfrm>
            <a:off x="7750176" y="3238502"/>
            <a:ext cx="3625850" cy="1510877"/>
          </a:xfrm>
          <a:prstGeom prst="roundRect">
            <a:avLst>
              <a:gd name="adj" fmla="val 6514"/>
            </a:avLst>
          </a:prstGeom>
          <a:solidFill>
            <a:srgbClr val="172036"/>
          </a:solidFill>
          <a:ln w="6350">
            <a:solidFill>
              <a:srgbClr val="27324D"/>
            </a:solidFill>
            <a:prstDash val="solid"/>
          </a:ln>
        </p:spPr>
      </p:sp>
      <p:sp>
        <p:nvSpPr>
          <p:cNvPr id="8" name="Text 6"/>
          <p:cNvSpPr/>
          <p:nvPr/>
        </p:nvSpPr>
        <p:spPr>
          <a:xfrm>
            <a:off x="7956974" y="3445300"/>
            <a:ext cx="330862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8A5B"/>
                </a:solidFill>
                <a:latin typeface="IBM Plex Sans" pitchFamily="34" charset="0"/>
                <a:ea typeface="IBM Plex Sans" pitchFamily="34" charset="-122"/>
                <a:cs typeface="IBM Plex Sans" pitchFamily="34" charset="-120"/>
              </a:rPr>
              <a:t>Checked close()</a:t>
            </a:r>
            <a:endParaRPr lang="en-US" sz="1800" dirty="0"/>
          </a:p>
        </p:txBody>
      </p:sp>
      <p:sp>
        <p:nvSpPr>
          <p:cNvPr id="9" name="Text 7"/>
          <p:cNvSpPr/>
          <p:nvPr/>
        </p:nvSpPr>
        <p:spPr>
          <a:xfrm>
            <a:off x="7956974" y="3795819"/>
            <a:ext cx="330862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DE4"/>
                </a:solidFill>
                <a:latin typeface="IBM Plex Sans" pitchFamily="34" charset="0"/>
                <a:ea typeface="IBM Plex Sans" pitchFamily="34" charset="-122"/>
                <a:cs typeface="IBM Plex Sans" pitchFamily="34" charset="-120"/>
              </a:rPr>
              <a:t>A delayed write error can appear when the output file is closed, so that result is checked too.</a:t>
            </a:r>
            <a:endParaRPr lang="en-US" sz="1400" dirty="0"/>
          </a:p>
        </p:txBody>
      </p:sp>
      <p:sp>
        <p:nvSpPr>
          <p:cNvPr id="10" name="Text 8"/>
          <p:cNvSpPr/>
          <p:nvPr/>
        </p:nvSpPr>
        <p:spPr>
          <a:xfrm>
            <a:off x="812800" y="6238241"/>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C4"/>
                </a:solidFill>
                <a:latin typeface="IBM Plex Sans" pitchFamily="34" charset="0"/>
                <a:ea typeface="IBM Plex Sans" pitchFamily="34" charset="-122"/>
                <a:cs typeface="IBM Plex Sans" pitchFamily="34" charset="-120"/>
              </a:rPr>
              <a:t>newcopy · OS Course 2027 · Task#1 · abridged excerpt from newcopy.c</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D1321"/>
                </a:solidFill>
                <a:latin typeface="IBM Plex Sans" pitchFamily="34" charset="0"/>
                <a:ea typeface="IBM Plex Sans" pitchFamily="34" charset="-122"/>
                <a:cs typeface="IBM Plex Sans" pitchFamily="34" charset="-120"/>
              </a:rPr>
              <a:t>Build and run</a:t>
            </a:r>
            <a:endParaRPr lang="en-US" sz="3600" dirty="0"/>
          </a:p>
        </p:txBody>
      </p:sp>
      <p:pic>
        <p:nvPicPr>
          <p:cNvPr id="3" name="Image 0" descr="Terminal session compiling newcopy.c with gcc, moving the binary to /usr/local/bin and running newcopy a.txt b.txt">    </p:cNvPr>
          <p:cNvPicPr>
            <a:picLocks noChangeAspect="1"/>
          </p:cNvPicPr>
          <p:nvPr/>
        </p:nvPicPr>
        <p:blipFill>
          <a:blip r:embed="rId1"/>
          <a:srcRect l="-22" r="-22" t="0" b="0"/>
          <a:stretch/>
        </p:blipFill>
        <p:spPr>
          <a:xfrm>
            <a:off x="812800" y="1569720"/>
            <a:ext cx="10566401" cy="2038350"/>
          </a:xfrm>
          <a:prstGeom prst="roundRect">
            <a:avLst>
              <a:gd name="adj" fmla="val 3738"/>
            </a:avLst>
          </a:prstGeom>
        </p:spPr>
      </p:pic>
      <p:sp>
        <p:nvSpPr>
          <p:cNvPr id="4" name="Shape 1"/>
          <p:cNvSpPr/>
          <p:nvPr/>
        </p:nvSpPr>
        <p:spPr>
          <a:xfrm>
            <a:off x="815975" y="3865245"/>
            <a:ext cx="3414183" cy="1790277"/>
          </a:xfrm>
          <a:prstGeom prst="roundRect">
            <a:avLst>
              <a:gd name="adj" fmla="val 5498"/>
            </a:avLst>
          </a:prstGeom>
          <a:solidFill>
            <a:srgbClr val="FFFFFF"/>
          </a:solidFill>
          <a:ln w="6350">
            <a:solidFill>
              <a:srgbClr val="D5DAEA"/>
            </a:solidFill>
            <a:prstDash val="solid"/>
          </a:ln>
        </p:spPr>
      </p:sp>
      <p:sp>
        <p:nvSpPr>
          <p:cNvPr id="5" name="Text 2"/>
          <p:cNvSpPr/>
          <p:nvPr/>
        </p:nvSpPr>
        <p:spPr>
          <a:xfrm>
            <a:off x="997373" y="4046643"/>
            <a:ext cx="3142928"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F5BEA"/>
                </a:solidFill>
                <a:latin typeface="JetBrains Mono" pitchFamily="49" charset="0"/>
                <a:ea typeface="JetBrains Mono" pitchFamily="49" charset="-122"/>
                <a:cs typeface="JetBrains Mono" pitchFamily="49" charset="-120"/>
              </a:rPr>
              <a:t>1</a:t>
            </a:r>
            <a:endParaRPr lang="en-US" sz="2800" dirty="0"/>
          </a:p>
        </p:txBody>
      </p:sp>
      <p:sp>
        <p:nvSpPr>
          <p:cNvPr id="6" name="Text 3"/>
          <p:cNvSpPr/>
          <p:nvPr/>
        </p:nvSpPr>
        <p:spPr>
          <a:xfrm>
            <a:off x="997373" y="4514004"/>
            <a:ext cx="314292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1321"/>
                </a:solidFill>
                <a:latin typeface="IBM Plex Sans" pitchFamily="34" charset="0"/>
                <a:ea typeface="IBM Plex Sans" pitchFamily="34" charset="-122"/>
                <a:cs typeface="IBM Plex Sans" pitchFamily="34" charset="-120"/>
              </a:rPr>
              <a:t>Compile</a:t>
            </a:r>
            <a:endParaRPr lang="en-US" sz="1600" dirty="0"/>
          </a:p>
        </p:txBody>
      </p:sp>
      <p:sp>
        <p:nvSpPr>
          <p:cNvPr id="7" name="Text 4"/>
          <p:cNvSpPr/>
          <p:nvPr/>
        </p:nvSpPr>
        <p:spPr>
          <a:xfrm>
            <a:off x="997373" y="4834043"/>
            <a:ext cx="3051387" cy="640080"/>
          </a:xfrm>
          <a:prstGeom prst="roundRect">
            <a:avLst>
              <a:gd name="adj" fmla="val 9921"/>
            </a:avLst>
          </a:prstGeom>
          <a:solidFill>
            <a:srgbClr val="0D1321"/>
          </a:solidFill>
          <a:ln/>
        </p:spPr>
        <p:txBody>
          <a:bodyPr wrap="square" lIns="95701" tIns="70301" rIns="11018" bIns="44901" rtlCol="0" anchor="t">
            <a:normAutofit/>
          </a:bodyPr>
          <a:lstStyle/>
          <a:p>
            <a:pPr algn="l" indent="0" marL="0">
              <a:lnSpc>
                <a:spcPts val="1820"/>
              </a:lnSpc>
              <a:buNone/>
            </a:pPr>
            <a:r>
              <a:rPr lang="en-US" sz="1300" dirty="0">
                <a:solidFill>
                  <a:srgbClr val="ECEFF8"/>
                </a:solidFill>
                <a:latin typeface="JetBrains Mono" pitchFamily="49" charset="0"/>
                <a:ea typeface="JetBrains Mono" pitchFamily="49" charset="-122"/>
                <a:cs typeface="JetBrains Mono" pitchFamily="49" charset="-120"/>
              </a:rPr>
              <a:t>gcc -Wall -Wextra -O2 newcopy.c -o newcopy</a:t>
            </a:r>
            <a:endParaRPr lang="en-US" sz="1300" dirty="0"/>
          </a:p>
        </p:txBody>
      </p:sp>
      <p:sp>
        <p:nvSpPr>
          <p:cNvPr id="8" name="Shape 5"/>
          <p:cNvSpPr/>
          <p:nvPr/>
        </p:nvSpPr>
        <p:spPr>
          <a:xfrm>
            <a:off x="4388908" y="3865245"/>
            <a:ext cx="3414183" cy="1790277"/>
          </a:xfrm>
          <a:prstGeom prst="roundRect">
            <a:avLst>
              <a:gd name="adj" fmla="val 5498"/>
            </a:avLst>
          </a:prstGeom>
          <a:solidFill>
            <a:srgbClr val="FFFFFF"/>
          </a:solidFill>
          <a:ln w="6350">
            <a:solidFill>
              <a:srgbClr val="D5DAEA"/>
            </a:solidFill>
            <a:prstDash val="solid"/>
          </a:ln>
        </p:spPr>
      </p:sp>
      <p:sp>
        <p:nvSpPr>
          <p:cNvPr id="9" name="Text 6"/>
          <p:cNvSpPr/>
          <p:nvPr/>
        </p:nvSpPr>
        <p:spPr>
          <a:xfrm>
            <a:off x="4570307" y="4046643"/>
            <a:ext cx="3142928"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F5BEA"/>
                </a:solidFill>
                <a:latin typeface="JetBrains Mono" pitchFamily="49" charset="0"/>
                <a:ea typeface="JetBrains Mono" pitchFamily="49" charset="-122"/>
                <a:cs typeface="JetBrains Mono" pitchFamily="49" charset="-120"/>
              </a:rPr>
              <a:t>2</a:t>
            </a:r>
            <a:endParaRPr lang="en-US" sz="2800" dirty="0"/>
          </a:p>
        </p:txBody>
      </p:sp>
      <p:sp>
        <p:nvSpPr>
          <p:cNvPr id="10" name="Text 7"/>
          <p:cNvSpPr/>
          <p:nvPr/>
        </p:nvSpPr>
        <p:spPr>
          <a:xfrm>
            <a:off x="4570307" y="4514004"/>
            <a:ext cx="314292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1321"/>
                </a:solidFill>
                <a:latin typeface="IBM Plex Sans" pitchFamily="34" charset="0"/>
                <a:ea typeface="IBM Plex Sans" pitchFamily="34" charset="-122"/>
                <a:cs typeface="IBM Plex Sans" pitchFamily="34" charset="-120"/>
              </a:rPr>
              <a:t>Install</a:t>
            </a:r>
            <a:endParaRPr lang="en-US" sz="1600" dirty="0"/>
          </a:p>
        </p:txBody>
      </p:sp>
      <p:sp>
        <p:nvSpPr>
          <p:cNvPr id="11" name="Text 8"/>
          <p:cNvSpPr/>
          <p:nvPr/>
        </p:nvSpPr>
        <p:spPr>
          <a:xfrm>
            <a:off x="4570307" y="4834043"/>
            <a:ext cx="3051387" cy="640080"/>
          </a:xfrm>
          <a:prstGeom prst="roundRect">
            <a:avLst>
              <a:gd name="adj" fmla="val 9921"/>
            </a:avLst>
          </a:prstGeom>
          <a:solidFill>
            <a:srgbClr val="0D1321"/>
          </a:solidFill>
          <a:ln/>
        </p:spPr>
        <p:txBody>
          <a:bodyPr wrap="square" lIns="95701" tIns="70301" rIns="11018" bIns="44901" rtlCol="0" anchor="t">
            <a:normAutofit/>
          </a:bodyPr>
          <a:lstStyle/>
          <a:p>
            <a:pPr algn="l" indent="0" marL="0">
              <a:lnSpc>
                <a:spcPts val="1820"/>
              </a:lnSpc>
              <a:buNone/>
            </a:pPr>
            <a:r>
              <a:rPr lang="en-US" sz="1300" dirty="0">
                <a:solidFill>
                  <a:srgbClr val="ECEFF8"/>
                </a:solidFill>
                <a:latin typeface="JetBrains Mono" pitchFamily="49" charset="0"/>
                <a:ea typeface="JetBrains Mono" pitchFamily="49" charset="-122"/>
                <a:cs typeface="JetBrains Mono" pitchFamily="49" charset="-120"/>
              </a:rPr>
              <a:t>mv newcopy /usr/local/bin/newcopy</a:t>
            </a:r>
            <a:endParaRPr lang="en-US" sz="1300" dirty="0"/>
          </a:p>
        </p:txBody>
      </p:sp>
      <p:sp>
        <p:nvSpPr>
          <p:cNvPr id="12" name="Shape 9"/>
          <p:cNvSpPr/>
          <p:nvPr/>
        </p:nvSpPr>
        <p:spPr>
          <a:xfrm>
            <a:off x="7961842" y="3865245"/>
            <a:ext cx="3414183" cy="1790277"/>
          </a:xfrm>
          <a:prstGeom prst="roundRect">
            <a:avLst>
              <a:gd name="adj" fmla="val 5498"/>
            </a:avLst>
          </a:prstGeom>
          <a:solidFill>
            <a:srgbClr val="FFFFFF"/>
          </a:solidFill>
          <a:ln w="6350">
            <a:solidFill>
              <a:srgbClr val="D5DAEA"/>
            </a:solidFill>
            <a:prstDash val="solid"/>
          </a:ln>
        </p:spPr>
      </p:sp>
      <p:sp>
        <p:nvSpPr>
          <p:cNvPr id="13" name="Text 10"/>
          <p:cNvSpPr/>
          <p:nvPr/>
        </p:nvSpPr>
        <p:spPr>
          <a:xfrm>
            <a:off x="8143240" y="4046643"/>
            <a:ext cx="3142928"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F5BEA"/>
                </a:solidFill>
                <a:latin typeface="JetBrains Mono" pitchFamily="49" charset="0"/>
                <a:ea typeface="JetBrains Mono" pitchFamily="49" charset="-122"/>
                <a:cs typeface="JetBrains Mono" pitchFamily="49" charset="-120"/>
              </a:rPr>
              <a:t>3</a:t>
            </a:r>
            <a:endParaRPr lang="en-US" sz="2800" dirty="0"/>
          </a:p>
        </p:txBody>
      </p:sp>
      <p:sp>
        <p:nvSpPr>
          <p:cNvPr id="14" name="Text 11"/>
          <p:cNvSpPr/>
          <p:nvPr/>
        </p:nvSpPr>
        <p:spPr>
          <a:xfrm>
            <a:off x="8143240" y="4514004"/>
            <a:ext cx="314292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1321"/>
                </a:solidFill>
                <a:latin typeface="IBM Plex Sans" pitchFamily="34" charset="0"/>
                <a:ea typeface="IBM Plex Sans" pitchFamily="34" charset="-122"/>
                <a:cs typeface="IBM Plex Sans" pitchFamily="34" charset="-120"/>
              </a:rPr>
              <a:t>Run</a:t>
            </a:r>
            <a:endParaRPr lang="en-US" sz="1600" dirty="0"/>
          </a:p>
        </p:txBody>
      </p:sp>
      <p:sp>
        <p:nvSpPr>
          <p:cNvPr id="15" name="Text 12"/>
          <p:cNvSpPr/>
          <p:nvPr/>
        </p:nvSpPr>
        <p:spPr>
          <a:xfrm>
            <a:off x="8143240" y="4834043"/>
            <a:ext cx="3051387" cy="408940"/>
          </a:xfrm>
          <a:prstGeom prst="roundRect">
            <a:avLst>
              <a:gd name="adj" fmla="val 15528"/>
            </a:avLst>
          </a:prstGeom>
          <a:solidFill>
            <a:srgbClr val="0D1321"/>
          </a:solidFill>
          <a:ln/>
        </p:spPr>
        <p:txBody>
          <a:bodyPr wrap="square" lIns="95701" tIns="70301" rIns="11018" bIns="44901" rtlCol="0" anchor="t">
            <a:normAutofit/>
          </a:bodyPr>
          <a:lstStyle/>
          <a:p>
            <a:pPr algn="l" indent="0" marL="0">
              <a:lnSpc>
                <a:spcPts val="1820"/>
              </a:lnSpc>
              <a:buNone/>
            </a:pPr>
            <a:r>
              <a:rPr lang="en-US" sz="1300" dirty="0">
                <a:solidFill>
                  <a:srgbClr val="ECEFF8"/>
                </a:solidFill>
                <a:latin typeface="JetBrains Mono" pitchFamily="49" charset="0"/>
                <a:ea typeface="JetBrains Mono" pitchFamily="49" charset="-122"/>
                <a:cs typeface="JetBrains Mono" pitchFamily="49" charset="-120"/>
              </a:rPr>
              <a:t>newcopy a.txt b.txt</a:t>
            </a:r>
            <a:endParaRPr lang="en-US" sz="1300" dirty="0"/>
          </a:p>
        </p:txBody>
      </p:sp>
      <p:sp>
        <p:nvSpPr>
          <p:cNvPr id="16" name="Text 13"/>
          <p:cNvSpPr/>
          <p:nvPr/>
        </p:nvSpPr>
        <p:spPr>
          <a:xfrm>
            <a:off x="812800" y="6238241"/>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86"/>
                </a:solidFill>
                <a:latin typeface="IBM Plex Sans" pitchFamily="34" charset="0"/>
                <a:ea typeface="IBM Plex Sans" pitchFamily="34" charset="-122"/>
                <a:cs typeface="IBM Plex Sans" pitchFamily="34" charset="-120"/>
              </a:rPr>
              <a:t>newcopy · OS Course 2027 · Task#1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32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CEFF8"/>
                </a:solidFill>
                <a:latin typeface="IBM Plex Sans" pitchFamily="34" charset="0"/>
                <a:ea typeface="IBM Plex Sans" pitchFamily="34" charset="-122"/>
                <a:cs typeface="IBM Plex Sans" pitchFamily="34" charset="-120"/>
              </a:rPr>
              <a:t>Test</a:t>
            </a:r>
            <a:endParaRPr lang="en-US" sz="3600" dirty="0"/>
          </a:p>
        </p:txBody>
      </p:sp>
      <p:pic>
        <p:nvPicPr>
          <p:cNvPr id="3" name="Image 0" descr="Terminal session testing newcopy: copying test.txt to a new file, into the parent directory, and onto itself">    </p:cNvPr>
          <p:cNvPicPr>
            <a:picLocks noChangeAspect="1"/>
          </p:cNvPicPr>
          <p:nvPr/>
        </p:nvPicPr>
        <p:blipFill>
          <a:blip r:embed="rId1"/>
          <a:srcRect l="-76" r="-76" t="0" b="0"/>
          <a:stretch/>
        </p:blipFill>
        <p:spPr>
          <a:xfrm>
            <a:off x="819150" y="1576071"/>
            <a:ext cx="6972300" cy="4140200"/>
          </a:xfrm>
          <a:prstGeom prst="roundRect">
            <a:avLst>
              <a:gd name="adj" fmla="val 1687"/>
            </a:avLst>
          </a:prstGeom>
        </p:spPr>
      </p:pic>
      <p:sp>
        <p:nvSpPr>
          <p:cNvPr id="4" name="Shape 1"/>
          <p:cNvSpPr/>
          <p:nvPr/>
        </p:nvSpPr>
        <p:spPr>
          <a:xfrm>
            <a:off x="815975" y="1572896"/>
            <a:ext cx="6978650" cy="4146550"/>
          </a:xfrm>
          <a:prstGeom prst="roundRect">
            <a:avLst>
              <a:gd name="adj" fmla="val 1761"/>
            </a:avLst>
          </a:prstGeom>
          <a:noFill/>
          <a:ln w="6350">
            <a:solidFill>
              <a:srgbClr val="27324D"/>
            </a:solidFill>
            <a:prstDash val="solid"/>
          </a:ln>
        </p:spPr>
      </p:sp>
      <p:sp>
        <p:nvSpPr>
          <p:cNvPr id="5" name="Text 2"/>
          <p:cNvSpPr/>
          <p:nvPr/>
        </p:nvSpPr>
        <p:spPr>
          <a:xfrm>
            <a:off x="8001001" y="1569721"/>
            <a:ext cx="347954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8A5B"/>
                </a:solidFill>
                <a:latin typeface="IBM Plex Sans" pitchFamily="34" charset="0"/>
                <a:ea typeface="IBM Plex Sans" pitchFamily="34" charset="-122"/>
                <a:cs typeface="IBM Plex Sans" pitchFamily="34" charset="-120"/>
              </a:rPr>
              <a:t>Results</a:t>
            </a:r>
            <a:endParaRPr lang="en-US" sz="2200" dirty="0"/>
          </a:p>
        </p:txBody>
      </p:sp>
      <p:sp>
        <p:nvSpPr>
          <p:cNvPr id="6" name="Text 3"/>
          <p:cNvSpPr/>
          <p:nvPr/>
        </p:nvSpPr>
        <p:spPr>
          <a:xfrm>
            <a:off x="8072121" y="2057400"/>
            <a:ext cx="3400806"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C5CDE4"/>
                </a:solidFill>
                <a:latin typeface="IBM Plex Sans" pitchFamily="34" charset="0"/>
                <a:ea typeface="IBM Plex Sans" pitchFamily="34" charset="-122"/>
                <a:cs typeface="IBM Plex Sans" pitchFamily="34" charset="-120"/>
              </a:rPr>
              <a:t>New file name: same content</a:t>
            </a:r>
            <a:endParaRPr lang="en-US" sz="1500" dirty="0"/>
          </a:p>
          <a:p>
            <a:pPr algn="l" marL="182880" indent="-182880">
              <a:lnSpc>
                <a:spcPts val="2250"/>
              </a:lnSpc>
              <a:buSzPct val="100000"/>
              <a:buChar char="•"/>
            </a:pPr>
            <a:r>
              <a:rPr lang="en-US" sz="1500" dirty="0">
                <a:solidFill>
                  <a:srgbClr val="C5CDE4"/>
                </a:solidFill>
                <a:latin typeface="IBM Plex Sans" pitchFamily="34" charset="0"/>
                <a:ea typeface="IBM Plex Sans" pitchFamily="34" charset="-122"/>
                <a:cs typeface="IBM Plex Sans" pitchFamily="34" charset="-120"/>
              </a:rPr>
              <a:t>Existing file: content replaced</a:t>
            </a:r>
            <a:endParaRPr lang="en-US" sz="1500" dirty="0"/>
          </a:p>
          <a:p>
            <a:pPr algn="l" marL="182880" indent="-182880">
              <a:lnSpc>
                <a:spcPts val="2250"/>
              </a:lnSpc>
              <a:buSzPct val="100000"/>
              <a:buChar char="•"/>
            </a:pPr>
            <a:r>
              <a:rPr lang="en-US" sz="1500" dirty="0">
                <a:solidFill>
                  <a:srgbClr val="C5CDE4"/>
                </a:solidFill>
                <a:latin typeface="IBM Plex Sans" pitchFamily="34" charset="0"/>
                <a:ea typeface="IBM Plex Sans" pitchFamily="34" charset="-122"/>
                <a:cs typeface="IBM Plex Sans" pitchFamily="34" charset="-120"/>
              </a:rPr>
              <a:t>Directory (../): copied inside it</a:t>
            </a:r>
            <a:endParaRPr lang="en-US" sz="1500" dirty="0"/>
          </a:p>
          <a:p>
            <a:pPr algn="l" marL="182880" indent="-182880">
              <a:lnSpc>
                <a:spcPts val="2250"/>
              </a:lnSpc>
              <a:buSzPct val="100000"/>
              <a:buChar char="•"/>
            </a:pPr>
            <a:r>
              <a:rPr lang="en-US" sz="1500" dirty="0">
                <a:solidFill>
                  <a:srgbClr val="C5CDE4"/>
                </a:solidFill>
                <a:latin typeface="IBM Plex Sans" pitchFamily="34" charset="0"/>
                <a:ea typeface="IBM Plex Sans" pitchFamily="34" charset="-122"/>
                <a:cs typeface="IBM Plex Sans" pitchFamily="34" charset="-120"/>
              </a:rPr>
              <a:t>Copy onto itself: refused</a:t>
            </a:r>
            <a:endParaRPr lang="en-US" sz="1500" dirty="0"/>
          </a:p>
        </p:txBody>
      </p:sp>
      <p:sp>
        <p:nvSpPr>
          <p:cNvPr id="7" name="Text 4"/>
          <p:cNvSpPr/>
          <p:nvPr/>
        </p:nvSpPr>
        <p:spPr>
          <a:xfrm>
            <a:off x="812800" y="6238242"/>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C4"/>
                </a:solidFill>
                <a:latin typeface="IBM Plex Sans" pitchFamily="34" charset="0"/>
                <a:ea typeface="IBM Plex Sans" pitchFamily="34" charset="-122"/>
                <a:cs typeface="IBM Plex Sans" pitchFamily="34" charset="-120"/>
              </a:rPr>
              <a:t>newcopy · OS Course 2027 · Task#1</a:t>
            </a:r>
            <a:endParaRPr lang="en-US" sz="1200" dirty="0"/>
          </a:p>
        </p:txBody>
      </p:sp>
    </p:spTree>
  </p:cSld>
  <p:clrMapOvr>
    <a:masterClrMapping/>
  </p:clrMapOvr>
</p:sld>
</file>

<file path=ppt/theme/theme1.xml><?xml version="1.0" encoding="utf-8"?>
<a:theme xmlns:a="http://schemas.openxmlformats.org/drawingml/2006/main" name="newcopy - OS Task#1">
  <a:themeElements>
    <a:clrScheme name="newcopy - OS Task#1">
      <a:dk1>
        <a:srgbClr val="0D1321"/>
      </a:dk1>
      <a:lt1>
        <a:srgbClr val="ECEFF8"/>
      </a:lt1>
      <a:dk2>
        <a:srgbClr val="232937"/>
      </a:dk2>
      <a:lt2>
        <a:srgbClr val="B4B8C2"/>
      </a:lt2>
      <a:accent1>
        <a:srgbClr val="FF8A5B"/>
      </a:accent1>
      <a:accent2>
        <a:srgbClr val="9AA6C4"/>
      </a:accent2>
      <a:accent3>
        <a:srgbClr val="2F5BEA"/>
      </a:accent3>
      <a:accent4>
        <a:srgbClr val="6FD3E8"/>
      </a:accent4>
      <a:accent5>
        <a:srgbClr val="5B6786"/>
      </a:accent5>
      <a:accent6>
        <a:srgbClr val="C5CDE4"/>
      </a:accent6>
      <a:hlink>
        <a:srgbClr val="0563C1"/>
      </a:hlink>
      <a:folHlink>
        <a:srgbClr val="954F72"/>
      </a:folHlink>
    </a:clrScheme>
    <a:fontScheme name="newcopy - OS Task#1">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newcopy - OS Task#1</dc:title>
  <dc:subject/>
  <dc:creator/>
  <cp:lastModifiedBy/>
  <cp:revision>1</cp:revision>
  <dcterms:created xsi:type="dcterms:W3CDTF">2026-10-06T11:46:47Z</dcterms:created>
  <dcterms:modified xsi:type="dcterms:W3CDTF">2026-10-06T11:46:47Z</dcterms:modified>
</cp:coreProperties>
</file>